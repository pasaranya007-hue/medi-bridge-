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84" r:id="rId1"/>
  </p:sldMasterIdLst>
  <p:notesMasterIdLst>
    <p:notesMasterId r:id="rId2"/>
  </p:notes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</p:sldIdLst>
  <p:sldSz type="screen4x3" cy="6858000" cx="12191999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/>
      </p:grpSpPr>
      <p:pic>
        <p:nvPicPr>
          <p:cNvPr id="2097152" name="Picture 1" descr="template2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584" name="Rectangle 2"/>
          <p:cNvSpPr/>
          <p:nvPr/>
        </p:nvSpPr>
        <p:spPr>
          <a:xfrm>
            <a:off x="320040" y="1143000"/>
            <a:ext cx="11064240" cy="443484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3"/>
          <p:cNvSpPr txBox="1"/>
          <p:nvPr/>
        </p:nvSpPr>
        <p:spPr>
          <a:xfrm>
            <a:off x="914400" y="1325880"/>
            <a:ext cx="10058400" cy="438912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2600">
                <a:solidFill>
                  <a:srgbClr val="143E70"/>
                </a:solidFill>
                <a:latin typeface="Arial"/>
              </a:defRPr>
            </a:pPr>
            <a:r>
              <a:t>MEDI-BRIDGE</a:t>
            </a:r>
          </a:p>
        </p:txBody>
      </p:sp>
      <p:sp>
        <p:nvSpPr>
          <p:cNvPr id="1048586" name="TextBox 4"/>
          <p:cNvSpPr txBox="1"/>
          <p:nvPr/>
        </p:nvSpPr>
        <p:spPr>
          <a:xfrm>
            <a:off x="914400" y="1874519"/>
            <a:ext cx="10058400" cy="2905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700">
                <a:solidFill>
                  <a:srgbClr val="284664"/>
                </a:solidFill>
                <a:latin typeface="Arial"/>
              </a:defRPr>
            </a:pPr>
            <a:r>
              <a:t>Digital Emergency Coordination for Hospitals &amp; Police</a:t>
            </a:r>
          </a:p>
        </p:txBody>
      </p:sp>
      <p:sp>
        <p:nvSpPr>
          <p:cNvPr id="1048587" name="TextBox 5"/>
          <p:cNvSpPr txBox="1"/>
          <p:nvPr/>
        </p:nvSpPr>
        <p:spPr>
          <a:xfrm>
            <a:off x="914400" y="2423160"/>
            <a:ext cx="10058400" cy="277877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500">
                <a:solidFill>
                  <a:srgbClr val="143E70"/>
                </a:solidFill>
                <a:latin typeface="Arial"/>
              </a:defRPr>
            </a:pPr>
            <a:r>
              <a:t>Theme: Healthcare </a:t>
            </a:r>
          </a:p>
        </p:txBody>
      </p:sp>
      <p:sp>
        <p:nvSpPr>
          <p:cNvPr id="1048588" name="TextBox 6"/>
          <p:cNvSpPr txBox="1"/>
          <p:nvPr/>
        </p:nvSpPr>
        <p:spPr>
          <a:xfrm>
            <a:off x="914400" y="2971800"/>
            <a:ext cx="10058400" cy="2778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500">
                <a:solidFill>
                  <a:srgbClr val="143E70"/>
                </a:solidFill>
                <a:latin typeface="Arial"/>
              </a:defRPr>
            </a:pPr>
            <a:r>
              <a:t>Team Name: </a:t>
            </a:r>
            <a:r>
              <a:rPr altLang="en-IN" lang="en-US"/>
              <a:t>P</a:t>
            </a:r>
            <a:r>
              <a:rPr altLang="en-IN" lang="en-US"/>
              <a:t>h</a:t>
            </a:r>
            <a:r>
              <a:rPr altLang="en-IN" lang="en-US"/>
              <a:t>o</a:t>
            </a:r>
            <a:r>
              <a:rPr altLang="en-IN" lang="en-US"/>
              <a:t>e</a:t>
            </a:r>
            <a:r>
              <a:rPr altLang="en-IN" lang="en-US"/>
              <a:t>n</a:t>
            </a:r>
            <a:r>
              <a:rPr altLang="en-IN" lang="en-US"/>
              <a:t>ix </a:t>
            </a:r>
            <a:r>
              <a:rPr altLang="en-IN" lang="en-US"/>
              <a:t>2</a:t>
            </a:r>
            <a:r>
              <a:rPr altLang="en-IN" lang="en-US"/>
              <a:t>.</a:t>
            </a:r>
            <a:r>
              <a:rPr altLang="en-IN" lang="en-US"/>
              <a:t>0</a:t>
            </a:r>
            <a:endParaRPr altLang="en-US" lang="zh-CN"/>
          </a:p>
        </p:txBody>
      </p:sp>
      <p:sp>
        <p:nvSpPr>
          <p:cNvPr id="1048589" name="TextBox 7"/>
          <p:cNvSpPr txBox="1"/>
          <p:nvPr/>
        </p:nvSpPr>
        <p:spPr>
          <a:xfrm>
            <a:off x="914400" y="3520440"/>
            <a:ext cx="10058400" cy="277877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500">
                <a:solidFill>
                  <a:srgbClr val="143E70"/>
                </a:solidFill>
                <a:latin typeface="Arial"/>
              </a:defRPr>
            </a:pPr>
            <a:r>
              <a:t>Team ID: </a:t>
            </a:r>
          </a:p>
        </p:txBody>
      </p:sp>
      <p:sp>
        <p:nvSpPr>
          <p:cNvPr id="1048590" name="TextBox 8"/>
          <p:cNvSpPr txBox="1"/>
          <p:nvPr/>
        </p:nvSpPr>
        <p:spPr>
          <a:xfrm>
            <a:off x="914400" y="4069080"/>
            <a:ext cx="10058400" cy="2778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500">
                <a:solidFill>
                  <a:srgbClr val="143E70"/>
                </a:solidFill>
                <a:latin typeface="Arial"/>
              </a:defRPr>
            </a:pPr>
            <a:r>
              <a:t>Section: SEC25IT460 | IT - D</a:t>
            </a:r>
          </a:p>
        </p:txBody>
      </p:sp>
      <p:sp>
        <p:nvSpPr>
          <p:cNvPr id="1048591" name="TextBox 9"/>
          <p:cNvSpPr txBox="1"/>
          <p:nvPr/>
        </p:nvSpPr>
        <p:spPr>
          <a:xfrm>
            <a:off x="914400" y="4617720"/>
            <a:ext cx="10058400" cy="239777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300">
                <a:solidFill>
                  <a:srgbClr val="505050"/>
                </a:solidFill>
                <a:latin typeface="Arial"/>
              </a:defRPr>
            </a:pPr>
            <a:r>
              <a:t>State/UT: Not specified in source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/>
      </p:grpSpPr>
      <p:pic>
        <p:nvPicPr>
          <p:cNvPr id="2097153" name="Picture 1" descr="template3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592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TextBox 3"/>
          <p:cNvSpPr txBox="1"/>
          <p:nvPr/>
        </p:nvSpPr>
        <p:spPr>
          <a:xfrm>
            <a:off x="594360" y="1124712"/>
            <a:ext cx="5303520" cy="320040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800">
                <a:solidFill>
                  <a:srgbClr val="005CA0"/>
                </a:solidFill>
                <a:latin typeface="Arial"/>
              </a:defRPr>
            </a:pPr>
            <a:r>
              <a:t>THE “GOLDEN HOUR” CRISIS</a:t>
            </a:r>
          </a:p>
        </p:txBody>
      </p:sp>
      <p:sp>
        <p:nvSpPr>
          <p:cNvPr id="1048594" name="TextBox 4"/>
          <p:cNvSpPr txBox="1"/>
          <p:nvPr/>
        </p:nvSpPr>
        <p:spPr>
          <a:xfrm>
            <a:off x="594360" y="1481328"/>
            <a:ext cx="5303520" cy="4429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0" sz="1300">
                <a:solidFill>
                  <a:srgbClr val="1E1E1E"/>
                </a:solidFill>
                <a:latin typeface="Arial"/>
              </a:defRPr>
            </a:pPr>
            <a:r>
              <a:t>Medico-legal formalities can delay urgent treatment and coordination during road-accident emergencies.</a:t>
            </a:r>
          </a:p>
        </p:txBody>
      </p:sp>
      <p:sp>
        <p:nvSpPr>
          <p:cNvPr id="1048595" name="TextBox 5"/>
          <p:cNvSpPr txBox="1"/>
          <p:nvPr/>
        </p:nvSpPr>
        <p:spPr>
          <a:xfrm>
            <a:off x="594360" y="2148840"/>
            <a:ext cx="5212080" cy="1560576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Physical travel to police stations to file complaints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No real-time digital bridge between hospitals and law enforcement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Redundant paperwork and manual errors</a:t>
            </a:r>
          </a:p>
          <a:p>
            <a:pPr>
              <a:spcAft>
                <a:spcPts val="8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Delayed police notification can stall legal and medical intervention</a:t>
            </a:r>
          </a:p>
        </p:txBody>
      </p:sp>
      <p:sp>
        <p:nvSpPr>
          <p:cNvPr id="1048596" name="TextBox 6"/>
          <p:cNvSpPr txBox="1"/>
          <p:nvPr/>
        </p:nvSpPr>
        <p:spPr>
          <a:xfrm>
            <a:off x="6172200" y="1124712"/>
            <a:ext cx="4937760" cy="2905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700">
                <a:solidFill>
                  <a:srgbClr val="005CA0"/>
                </a:solidFill>
                <a:latin typeface="Arial"/>
              </a:defRPr>
            </a:pPr>
            <a:r>
              <a:t>MEDI-BRIDGE APPROACH</a:t>
            </a:r>
          </a:p>
        </p:txBody>
      </p:sp>
      <p:sp>
        <p:nvSpPr>
          <p:cNvPr id="1048597" name="TextBox 7"/>
          <p:cNvSpPr txBox="1"/>
          <p:nvPr/>
        </p:nvSpPr>
        <p:spPr>
          <a:xfrm>
            <a:off x="6172200" y="1536192"/>
            <a:ext cx="5074920" cy="1497076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One-tap emergency mode on a web/mobile platform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Instant digital medico-legal certificate (EMLC) with unique ID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GPS geofencing alerts the correct police station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Dashboard tracks police acknowledgements and medical severity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Geo-tagged, timestamped evidence and encrypted communication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  <a:latin typeface="Arial"/>
              </a:defRPr>
            </a:pPr>
            <a:r>
              <a:t>•  One-tap insurance-provider notification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pic>
        <p:nvPicPr>
          <p:cNvPr id="2097154" name="Picture 1" descr="template4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598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3"/>
          <p:cNvSpPr txBox="1"/>
          <p:nvPr/>
        </p:nvSpPr>
        <p:spPr>
          <a:xfrm>
            <a:off x="594360" y="1325880"/>
            <a:ext cx="10789920" cy="2246376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Platform: unified web and mobile emergency interface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Location: GPS geofencing to identify the correct jurisdictional police station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Digital records: instant EMLC generation with a unique ID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Coordination: real-time dashboard for police acknowledgements and medical severity tags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Evidence: geo-tagged and timestamped accident-site data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Security: end-to-end encryption for healthcare and legal communication</a:t>
            </a:r>
          </a:p>
          <a:p>
            <a:pPr>
              <a:spcAft>
                <a:spcPts val="8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GitHub/GitLab link, demo video, programming languages/frameworks and AI-tool usage: not provided in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pic>
        <p:nvPicPr>
          <p:cNvPr id="2097155" name="Picture 1" descr="template5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600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1" name="TextBox 3"/>
          <p:cNvSpPr txBox="1"/>
          <p:nvPr/>
        </p:nvSpPr>
        <p:spPr>
          <a:xfrm>
            <a:off x="640080" y="1234440"/>
            <a:ext cx="10698480" cy="2195577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Target audience: accident patients, hospitals, police, and insurance providers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Faster police intimation and emergency coordination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Helps protect the Golden Hour by reducing communication delays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Reduces paperwork and manual errors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Supports quicker legal communication and smart healthcare systems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SDG 3: Good Health and Well-Being — road safety, healthcare access, emergency preparedness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SDG 16: Peace, Justice and Strong Institutions — accountable digital reporting and coordination</a:t>
            </a:r>
          </a:p>
          <a:p>
            <a:pPr>
              <a:spcAft>
                <a:spcPts val="6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SDG 9: Industry, Innovation and Infrastructure — digital communication and resilient emergency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pic>
        <p:nvPicPr>
          <p:cNvPr id="2097156" name="Picture 1" descr="template6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602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3"/>
          <p:cNvSpPr txBox="1"/>
          <p:nvPr/>
        </p:nvSpPr>
        <p:spPr>
          <a:xfrm>
            <a:off x="640080" y="1234440"/>
            <a:ext cx="4937760" cy="2778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600">
                <a:solidFill>
                  <a:srgbClr val="005CA0"/>
                </a:solidFill>
                <a:latin typeface="Arial"/>
              </a:defRPr>
            </a:pPr>
            <a:r>
              <a:t>ESTIMATED PROJECT BUDGET</a:t>
            </a:r>
          </a:p>
        </p:txBody>
      </p:sp>
      <p:sp>
        <p:nvSpPr>
          <p:cNvPr id="1048604" name="TextBox 4"/>
          <p:cNvSpPr txBox="1"/>
          <p:nvPr/>
        </p:nvSpPr>
        <p:spPr>
          <a:xfrm>
            <a:off x="640080" y="1627632"/>
            <a:ext cx="5074920" cy="1573276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Software &amp; app development — ₹3,000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Internet &amp; cloud services — ₹1,000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UI/design &amp; testing — ₹1,000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Documentation &amp; printing — ₹500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Presentation &amp; miscellaneous — ₹500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Total estimated budget — ₹6,000</a:t>
            </a:r>
          </a:p>
        </p:txBody>
      </p:sp>
      <p:sp>
        <p:nvSpPr>
          <p:cNvPr id="1048605" name="TextBox 5"/>
          <p:cNvSpPr txBox="1"/>
          <p:nvPr/>
        </p:nvSpPr>
        <p:spPr>
          <a:xfrm>
            <a:off x="6172200" y="1234440"/>
            <a:ext cx="4754880" cy="2778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600">
                <a:solidFill>
                  <a:srgbClr val="005CA0"/>
                </a:solidFill>
                <a:latin typeface="Arial"/>
              </a:defRPr>
            </a:pPr>
            <a:r>
              <a:t>RISKS TO VALIDATE</a:t>
            </a:r>
          </a:p>
        </p:txBody>
      </p:sp>
      <p:sp>
        <p:nvSpPr>
          <p:cNvPr id="1048606" name="TextBox 6"/>
          <p:cNvSpPr txBox="1"/>
          <p:nvPr/>
        </p:nvSpPr>
        <p:spPr>
          <a:xfrm>
            <a:off x="6172200" y="1627632"/>
            <a:ext cx="5074920" cy="1611377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Reliable integration between hospital and police workflows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Accurate GPS-based jurisdiction identification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Protection of sensitive medical and legal information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Timely acknowledgement and dependable system availability</a:t>
            </a:r>
          </a:p>
          <a:p>
            <a:pPr>
              <a:spcAft>
                <a:spcPts val="700"/>
              </a:spcAft>
              <a:defRPr sz="1300">
                <a:solidFill>
                  <a:srgbClr val="232D37"/>
                </a:solidFill>
                <a:latin typeface="Arial"/>
              </a:defRPr>
            </a:pPr>
            <a:r>
              <a:t>•  Concept safeguards: encryption, timestamped audit trail, GPS geofencing and real-time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pic>
        <p:nvPicPr>
          <p:cNvPr id="2097157" name="Picture 1" descr="template7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607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8" name="TextBox 3"/>
          <p:cNvSpPr txBox="1"/>
          <p:nvPr/>
        </p:nvSpPr>
        <p:spPr>
          <a:xfrm>
            <a:off x="777240" y="1234440"/>
            <a:ext cx="9875520" cy="290576"/>
          </a:xfrm>
          <a:prstGeom prst="rect"/>
          <a:noFill/>
        </p:spPr>
        <p:txBody>
          <a:bodyPr bIns="18288" lIns="36576" rIns="36576" tIns="18288" wrap="square">
            <a:spAutoFit/>
          </a:bodyPr>
          <a:p>
            <a:pPr>
              <a:defRPr b="1" sz="1700">
                <a:solidFill>
                  <a:srgbClr val="005CA0"/>
                </a:solidFill>
                <a:latin typeface="Arial"/>
              </a:defRPr>
            </a:pPr>
            <a:r>
              <a:t>TEAM COMPOSITION</a:t>
            </a:r>
          </a:p>
        </p:txBody>
      </p:sp>
      <p:sp>
        <p:nvSpPr>
          <p:cNvPr id="1048609" name="TextBox 4"/>
          <p:cNvSpPr txBox="1"/>
          <p:nvPr/>
        </p:nvSpPr>
        <p:spPr>
          <a:xfrm>
            <a:off x="777240" y="1737360"/>
            <a:ext cx="9966960" cy="1382776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 Presenter / team member: Saranya P A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 Section: SEC25IT460 | IT - D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 Project: Medi-Bridge — digital coordination between hospitals and law enforcement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rial"/>
              </a:defRPr>
            </a:pPr>
            <a:r>
              <a:t>•  Team roles, implementation challenges and project journey: not detailed in the source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pic>
        <p:nvPicPr>
          <p:cNvPr id="2097158" name="Picture 1" descr="template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  <p:sp>
        <p:nvSpPr>
          <p:cNvPr id="1048610" name="Rectangle 2"/>
          <p:cNvSpPr/>
          <p:nvPr/>
        </p:nvSpPr>
        <p:spPr>
          <a:xfrm>
            <a:off x="320040" y="1024128"/>
            <a:ext cx="11064240" cy="4617720"/>
          </a:xfrm>
          <a:prstGeom prst="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TextBox 3"/>
          <p:cNvSpPr txBox="1"/>
          <p:nvPr/>
        </p:nvSpPr>
        <p:spPr>
          <a:xfrm>
            <a:off x="731520" y="1325880"/>
            <a:ext cx="10515600" cy="3474720"/>
          </a:xfrm>
          <a:prstGeom prst="rect"/>
          <a:noFill/>
        </p:spPr>
        <p:txBody>
          <a:bodyPr bIns="18288" lIns="27432" rIns="27432" tIns="18288" wrap="square">
            <a:spAutoFit/>
          </a:bodyPr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SDG 3 — Good Health and Well-Being: Targets 3.6, 3.8 and 3.d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SDG 16 — Peace, Justice and Strong Institutions: Targets 16.6, 16.10 and 16.a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SDG 9 — Industry, Innovation and Infrastructure: Targets 9.c, 9.5 and 9.1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rial"/>
              </a:defRPr>
            </a:pPr>
            <a:r>
              <a:t>•  Specific research URLs, GitHub/GitLab repository and demo-video links were not included in the source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moto g57 power</dc:creator>
  <cp:lastModifiedBy>Steve Canny</cp:lastModifiedBy>
  <dcterms:created xsi:type="dcterms:W3CDTF">2013-01-26T22:14:16Z</dcterms:created>
  <dcterms:modified xsi:type="dcterms:W3CDTF">2026-10-27T02:50:05Z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199efc0b347a4266998568d3c5bde690_23</vt:lpwstr>
  </property>
</Properties>
</file>